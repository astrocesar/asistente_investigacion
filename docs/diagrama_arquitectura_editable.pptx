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7145000" cy="19050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2" d="100"/>
          <a:sy n="82" d="100"/>
        </p:scale>
        <p:origin x="408" y="-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6567E30-C225-4EF8-A859-88AA74781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0" y="7196667"/>
            <a:ext cx="13716000" cy="27516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7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9645943-3B12-4EE0-BDA3-432F07721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1750" y="10477500"/>
            <a:ext cx="12001500" cy="21166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6084C4BF-F876-49B8-8947-4D29BEF63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0" y="7937500"/>
            <a:ext cx="13716000" cy="3175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90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E7B298D-68C0-46DC-8A86-617A248A8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406" y="1481667"/>
            <a:ext cx="15216188" cy="23283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7ADAE38B-2668-4352-ABB2-0645D4239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406" y="5291667"/>
            <a:ext cx="15216188" cy="118533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0FE3EEF-846C-4A46-B89F-4F281A1E4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406" y="1481667"/>
            <a:ext cx="15216188" cy="23283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22A4774-7A55-4F68-BC32-45F6A04E3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406" y="5291667"/>
            <a:ext cx="7072313" cy="118533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D2DD49F-6683-4458-A152-D81A7827E16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108281" y="5291667"/>
            <a:ext cx="7072313" cy="118533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295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FEC53B0-C2BD-419B-B7DB-A4E3A6981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406" y="1481667"/>
            <a:ext cx="15216188" cy="23283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64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4446342-B1D8-419B-B39B-266274E34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406" y="5291667"/>
            <a:ext cx="7072313" cy="11853333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21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7500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787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73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359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46459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89321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321844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750469" indent="-321469" algn="l">
              <a:lnSpc>
                <a:spcPct val="110000"/>
              </a:lnSpc>
              <a:spcBef>
                <a:spcPts val="0"/>
              </a:spcBef>
              <a:spcAft>
                <a:spcPts val="1688"/>
              </a:spcAft>
              <a:buChar char="•"/>
              <a:defRPr sz="316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ítulo">
            <a:extLst>
              <a:ext uri="{FF2B5EF4-FFF2-40B4-BE49-F238E27FC236}">
                <a16:creationId xmlns:a16="http://schemas.microsoft.com/office/drawing/2014/main" id="{5F9D657A-EF38-4816-B65D-2AEB72655B2B}"/>
              </a:ext>
            </a:extLst>
          </p:cNvPr>
          <p:cNvSpPr>
            <a:spLocks noGrp="1"/>
          </p:cNvSpPr>
          <p:nvPr/>
        </p:nvSpPr>
        <p:spPr>
          <a:xfrm>
            <a:off x="857250" y="428625"/>
            <a:ext cx="15240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412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412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412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412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412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412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412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412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412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412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412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pPr>
            <a:endParaRPr sz="4125" b="1" dirty="0">
              <a:solidFill>
                <a:srgbClr val="17384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" name="Subtítulo">
            <a:extLst>
              <a:ext uri="{FF2B5EF4-FFF2-40B4-BE49-F238E27FC236}">
                <a16:creationId xmlns:a16="http://schemas.microsoft.com/office/drawing/2014/main" id="{46D58FAD-711E-4568-A309-075B62A8EB1F}"/>
              </a:ext>
            </a:extLst>
          </p:cNvPr>
          <p:cNvSpPr>
            <a:spLocks noGrp="1"/>
          </p:cNvSpPr>
          <p:nvPr/>
        </p:nvSpPr>
        <p:spPr>
          <a:xfrm>
            <a:off x="876300" y="742950"/>
            <a:ext cx="1428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ctr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sz="4000" b="1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Arquitectura</a:t>
            </a:r>
            <a:r>
              <a:rPr sz="4000" b="1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actual del </a:t>
            </a:r>
            <a:r>
              <a:rPr sz="4000" b="1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asistente</a:t>
            </a:r>
            <a:r>
              <a:rPr sz="4000" b="1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4000" b="1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investigació</a:t>
            </a:r>
            <a:r>
              <a:rPr lang="es-ES" sz="4000" b="1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n</a:t>
            </a:r>
            <a:endParaRPr sz="4000" b="1" dirty="0">
              <a:solidFill>
                <a:schemeClr val="tx1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Solicitud de entrada">
            <a:extLst>
              <a:ext uri="{FF2B5EF4-FFF2-40B4-BE49-F238E27FC236}">
                <a16:creationId xmlns:a16="http://schemas.microsoft.com/office/drawing/2014/main" id="{65E59FB3-7C49-4B93-8761-ADEFE3603965}"/>
              </a:ext>
            </a:extLst>
          </p:cNvPr>
          <p:cNvSpPr>
            <a:spLocks noGrp="1"/>
          </p:cNvSpPr>
          <p:nvPr/>
        </p:nvSpPr>
        <p:spPr>
          <a:xfrm>
            <a:off x="4953000" y="2238375"/>
            <a:ext cx="7048500" cy="857250"/>
          </a:xfrm>
          <a:prstGeom prst="roundRect">
            <a:avLst>
              <a:gd name="adj" fmla="val 26667"/>
            </a:avLst>
          </a:prstGeom>
          <a:solidFill>
            <a:srgbClr val="F0F5F7"/>
          </a:solidFill>
          <a:ln w="28575">
            <a:solidFill>
              <a:srgbClr val="CBDDE6"/>
            </a:solidFill>
            <a:prstDash val="solid"/>
          </a:ln>
        </p:spPr>
      </p:sp>
      <p:sp>
        <p:nvSpPr>
          <p:cNvPr id="5" name="Solicitud principal">
            <a:extLst>
              <a:ext uri="{FF2B5EF4-FFF2-40B4-BE49-F238E27FC236}">
                <a16:creationId xmlns:a16="http://schemas.microsoft.com/office/drawing/2014/main" id="{78798FB2-13FB-4798-82FA-13FE64525BA2}"/>
              </a:ext>
            </a:extLst>
          </p:cNvPr>
          <p:cNvSpPr>
            <a:spLocks noGrp="1"/>
          </p:cNvSpPr>
          <p:nvPr/>
        </p:nvSpPr>
        <p:spPr>
          <a:xfrm>
            <a:off x="5334000" y="2333625"/>
            <a:ext cx="6286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32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32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32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32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32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32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32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32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32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32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ctr">
              <a:defRPr sz="232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pPr>
            <a:r>
              <a:rPr sz="2325" b="1" dirty="0">
                <a:solidFill>
                  <a:srgbClr val="17384B"/>
                </a:solidFill>
                <a:latin typeface="Segoe UI"/>
                <a:ea typeface="Segoe UI"/>
                <a:cs typeface="Segoe UI"/>
              </a:rPr>
              <a:t>Consulta breve de </a:t>
            </a:r>
            <a:r>
              <a:rPr sz="2325" b="1" dirty="0" err="1">
                <a:solidFill>
                  <a:srgbClr val="17384B"/>
                </a:solidFill>
                <a:latin typeface="Segoe UI"/>
                <a:ea typeface="Segoe UI"/>
                <a:cs typeface="Segoe UI"/>
              </a:rPr>
              <a:t>investigación</a:t>
            </a:r>
            <a:endParaRPr sz="2325" b="1" dirty="0">
              <a:solidFill>
                <a:srgbClr val="17384B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" name="Alcance actual">
            <a:extLst>
              <a:ext uri="{FF2B5EF4-FFF2-40B4-BE49-F238E27FC236}">
                <a16:creationId xmlns:a16="http://schemas.microsoft.com/office/drawing/2014/main" id="{8365F1C8-5D60-4093-BC9A-79135C74231E}"/>
              </a:ext>
            </a:extLst>
          </p:cNvPr>
          <p:cNvSpPr>
            <a:spLocks noGrp="1"/>
          </p:cNvSpPr>
          <p:nvPr/>
        </p:nvSpPr>
        <p:spPr>
          <a:xfrm>
            <a:off x="5334000" y="2743200"/>
            <a:ext cx="6286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sz="1725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Por </a:t>
            </a:r>
            <a:r>
              <a:rPr sz="1725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ahora</a:t>
            </a:r>
            <a:r>
              <a:rPr lang="es-ES" sz="1725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solo una pregunta para probar arquitectura</a:t>
            </a:r>
            <a:endParaRPr sz="1725" b="0" dirty="0">
              <a:solidFill>
                <a:schemeClr val="tx1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7" name="Flecha de pregunta">
            <a:extLst>
              <a:ext uri="{FF2B5EF4-FFF2-40B4-BE49-F238E27FC236}">
                <a16:creationId xmlns:a16="http://schemas.microsoft.com/office/drawing/2014/main" id="{EC3F6675-F1F0-4CA5-9C53-64EF17E984BC}"/>
              </a:ext>
            </a:extLst>
          </p:cNvPr>
          <p:cNvSpPr>
            <a:spLocks noGrp="1"/>
          </p:cNvSpPr>
          <p:nvPr/>
        </p:nvSpPr>
        <p:spPr>
          <a:xfrm>
            <a:off x="8334375" y="3114675"/>
            <a:ext cx="285750" cy="742950"/>
          </a:xfrm>
          <a:prstGeom prst="downArrow">
            <a:avLst/>
          </a:prstGeom>
          <a:solidFill>
            <a:srgbClr val="2E7CC6"/>
          </a:solidFill>
          <a:ln w="9525">
            <a:solidFill>
              <a:srgbClr val="2E7CC6"/>
            </a:solidFill>
            <a:prstDash val="solid"/>
          </a:ln>
        </p:spPr>
      </p:sp>
      <p:sp>
        <p:nvSpPr>
          <p:cNvPr id="8" name="Dato pregunta">
            <a:extLst>
              <a:ext uri="{FF2B5EF4-FFF2-40B4-BE49-F238E27FC236}">
                <a16:creationId xmlns:a16="http://schemas.microsoft.com/office/drawing/2014/main" id="{09B94085-348D-4E86-9033-50E822AA7692}"/>
              </a:ext>
            </a:extLst>
          </p:cNvPr>
          <p:cNvSpPr>
            <a:spLocks noGrp="1"/>
          </p:cNvSpPr>
          <p:nvPr/>
        </p:nvSpPr>
        <p:spPr>
          <a:xfrm>
            <a:off x="8763000" y="3324225"/>
            <a:ext cx="190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87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87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pPr>
            <a:r>
              <a:rPr sz="1875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pregunta</a:t>
            </a:r>
            <a:endParaRPr sz="1875" b="0" dirty="0">
              <a:solidFill>
                <a:schemeClr val="tx1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9" name="Función 01">
            <a:extLst>
              <a:ext uri="{FF2B5EF4-FFF2-40B4-BE49-F238E27FC236}">
                <a16:creationId xmlns:a16="http://schemas.microsoft.com/office/drawing/2014/main" id="{DFE4AC47-480C-4044-9AF1-7FB407C0A223}"/>
              </a:ext>
            </a:extLst>
          </p:cNvPr>
          <p:cNvSpPr>
            <a:spLocks noGrp="1"/>
          </p:cNvSpPr>
          <p:nvPr/>
        </p:nvSpPr>
        <p:spPr>
          <a:xfrm>
            <a:off x="4953000" y="3952875"/>
            <a:ext cx="7048500" cy="2409825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8575">
            <a:solidFill>
              <a:srgbClr val="91C0EC"/>
            </a:solidFill>
            <a:prstDash val="solid"/>
          </a:ln>
        </p:spPr>
      </p:sp>
      <p:sp>
        <p:nvSpPr>
          <p:cNvPr id="11" name="Texto número 01">
            <a:extLst>
              <a:ext uri="{FF2B5EF4-FFF2-40B4-BE49-F238E27FC236}">
                <a16:creationId xmlns:a16="http://schemas.microsoft.com/office/drawing/2014/main" id="{BBED0969-5C7D-44A3-AF5C-C64EB7CD3195}"/>
              </a:ext>
            </a:extLst>
          </p:cNvPr>
          <p:cNvSpPr>
            <a:spLocks noGrp="1"/>
          </p:cNvSpPr>
          <p:nvPr/>
        </p:nvSpPr>
        <p:spPr>
          <a:xfrm>
            <a:off x="5314950" y="436245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pPr>
            <a:r>
              <a:rPr sz="4000" b="1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2" name="Nombre función 01">
            <a:extLst>
              <a:ext uri="{FF2B5EF4-FFF2-40B4-BE49-F238E27FC236}">
                <a16:creationId xmlns:a16="http://schemas.microsoft.com/office/drawing/2014/main" id="{3C53411C-87EF-47E5-BCA4-4A05FCB974B5}"/>
              </a:ext>
            </a:extLst>
          </p:cNvPr>
          <p:cNvSpPr>
            <a:spLocks noGrp="1"/>
          </p:cNvSpPr>
          <p:nvPr/>
        </p:nvSpPr>
        <p:spPr>
          <a:xfrm>
            <a:off x="6143625" y="4276725"/>
            <a:ext cx="5429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pPr>
            <a:r>
              <a:rPr sz="2625" b="0" dirty="0" err="1">
                <a:solidFill>
                  <a:srgbClr val="17384B"/>
                </a:solidFill>
                <a:latin typeface="Consolas"/>
                <a:ea typeface="Consolas"/>
                <a:cs typeface="Consolas"/>
              </a:rPr>
              <a:t>armar_peticion</a:t>
            </a:r>
            <a:r>
              <a:rPr sz="2625" b="0" dirty="0">
                <a:solidFill>
                  <a:srgbClr val="17384B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625" b="0" dirty="0" err="1">
                <a:solidFill>
                  <a:srgbClr val="17384B"/>
                </a:solidFill>
                <a:latin typeface="Consolas"/>
                <a:ea typeface="Consolas"/>
                <a:cs typeface="Consolas"/>
              </a:rPr>
              <a:t>pregunta</a:t>
            </a:r>
            <a:r>
              <a:rPr sz="2625" b="0" dirty="0">
                <a:solidFill>
                  <a:srgbClr val="17384B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3" name="Descripción función 01">
            <a:extLst>
              <a:ext uri="{FF2B5EF4-FFF2-40B4-BE49-F238E27FC236}">
                <a16:creationId xmlns:a16="http://schemas.microsoft.com/office/drawing/2014/main" id="{FDB3E28F-4C9F-4E05-87B9-D0953AD10D36}"/>
              </a:ext>
            </a:extLst>
          </p:cNvPr>
          <p:cNvSpPr>
            <a:spLocks noGrp="1"/>
          </p:cNvSpPr>
          <p:nvPr/>
        </p:nvSpPr>
        <p:spPr>
          <a:xfrm>
            <a:off x="6153150" y="5019675"/>
            <a:ext cx="53816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sz="2025" b="0" dirty="0">
                <a:solidFill>
                  <a:srgbClr val="607583"/>
                </a:solidFill>
                <a:latin typeface="Segoe UI"/>
                <a:ea typeface="Segoe UI"/>
                <a:cs typeface="Segoe UI"/>
              </a:rPr>
              <a:t>Valida la entrada y arma</a:t>
            </a:r>
          </a:p>
          <a:p>
            <a: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sz="2025" b="0" dirty="0">
                <a:solidFill>
                  <a:srgbClr val="607583"/>
                </a:solidFill>
                <a:latin typeface="Segoe UI"/>
                <a:ea typeface="Segoe UI"/>
                <a:cs typeface="Segoe UI"/>
              </a:rPr>
              <a:t>URL, headers y body</a:t>
            </a:r>
          </a:p>
        </p:txBody>
      </p:sp>
      <p:sp>
        <p:nvSpPr>
          <p:cNvPr id="14" name="Función 02">
            <a:extLst>
              <a:ext uri="{FF2B5EF4-FFF2-40B4-BE49-F238E27FC236}">
                <a16:creationId xmlns:a16="http://schemas.microsoft.com/office/drawing/2014/main" id="{2F68A659-DB2E-4EC3-8237-CE3006F933C7}"/>
              </a:ext>
            </a:extLst>
          </p:cNvPr>
          <p:cNvSpPr>
            <a:spLocks noGrp="1"/>
          </p:cNvSpPr>
          <p:nvPr/>
        </p:nvSpPr>
        <p:spPr>
          <a:xfrm>
            <a:off x="4953000" y="7286625"/>
            <a:ext cx="7048500" cy="2619374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8575">
            <a:solidFill>
              <a:srgbClr val="91C0EC"/>
            </a:solidFill>
            <a:prstDash val="solid"/>
          </a:ln>
        </p:spPr>
      </p:sp>
      <p:sp>
        <p:nvSpPr>
          <p:cNvPr id="16" name="Texto número 02">
            <a:extLst>
              <a:ext uri="{FF2B5EF4-FFF2-40B4-BE49-F238E27FC236}">
                <a16:creationId xmlns:a16="http://schemas.microsoft.com/office/drawing/2014/main" id="{4CDC9E56-379A-4C9D-AA98-47166AF043D0}"/>
              </a:ext>
            </a:extLst>
          </p:cNvPr>
          <p:cNvSpPr>
            <a:spLocks noGrp="1"/>
          </p:cNvSpPr>
          <p:nvPr/>
        </p:nvSpPr>
        <p:spPr>
          <a:xfrm>
            <a:off x="5314950" y="769620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pPr>
            <a:r>
              <a:rPr sz="4000" b="1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7" name="Nombre función 02">
            <a:extLst>
              <a:ext uri="{FF2B5EF4-FFF2-40B4-BE49-F238E27FC236}">
                <a16:creationId xmlns:a16="http://schemas.microsoft.com/office/drawing/2014/main" id="{5D8A4DFE-CD51-4B1C-915E-350E8062F17C}"/>
              </a:ext>
            </a:extLst>
          </p:cNvPr>
          <p:cNvSpPr>
            <a:spLocks noGrp="1"/>
          </p:cNvSpPr>
          <p:nvPr/>
        </p:nvSpPr>
        <p:spPr>
          <a:xfrm>
            <a:off x="6143625" y="7610475"/>
            <a:ext cx="5429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pPr>
            <a:r>
              <a:rPr sz="2625" b="0" dirty="0" err="1">
                <a:solidFill>
                  <a:srgbClr val="17384B"/>
                </a:solidFill>
                <a:latin typeface="Consolas"/>
                <a:ea typeface="Consolas"/>
                <a:cs typeface="Consolas"/>
              </a:rPr>
              <a:t>enviar_peticion</a:t>
            </a:r>
            <a:endParaRPr sz="2625" b="0" dirty="0">
              <a:solidFill>
                <a:srgbClr val="17384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8" name="Descripción función 02">
            <a:extLst>
              <a:ext uri="{FF2B5EF4-FFF2-40B4-BE49-F238E27FC236}">
                <a16:creationId xmlns:a16="http://schemas.microsoft.com/office/drawing/2014/main" id="{22F7A76B-1F02-43BF-9279-9090D3DEF58E}"/>
              </a:ext>
            </a:extLst>
          </p:cNvPr>
          <p:cNvSpPr>
            <a:spLocks noGrp="1"/>
          </p:cNvSpPr>
          <p:nvPr/>
        </p:nvSpPr>
        <p:spPr>
          <a:xfrm>
            <a:off x="6153149" y="8415617"/>
            <a:ext cx="53816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sz="2025" b="0" dirty="0" err="1">
                <a:solidFill>
                  <a:srgbClr val="607583"/>
                </a:solidFill>
                <a:latin typeface="Segoe UI"/>
                <a:ea typeface="Segoe UI"/>
                <a:cs typeface="Segoe UI"/>
              </a:rPr>
              <a:t>Recibe</a:t>
            </a:r>
            <a:r>
              <a:rPr sz="2025" b="0" dirty="0">
                <a:solidFill>
                  <a:srgbClr val="607583"/>
                </a:solidFill>
                <a:latin typeface="Segoe UI"/>
                <a:ea typeface="Segoe UI"/>
                <a:cs typeface="Segoe UI"/>
              </a:rPr>
              <a:t> URL, headers y body</a:t>
            </a:r>
          </a:p>
          <a:p>
            <a:pPr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lang="es-ES" dirty="0"/>
              <a:t>Envía la petición y lee la respuesta</a:t>
            </a:r>
            <a:endParaRPr sz="2025" b="0" dirty="0">
              <a:solidFill>
                <a:srgbClr val="607583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19" name="Función 03">
            <a:extLst>
              <a:ext uri="{FF2B5EF4-FFF2-40B4-BE49-F238E27FC236}">
                <a16:creationId xmlns:a16="http://schemas.microsoft.com/office/drawing/2014/main" id="{4253B286-2665-4610-AFE0-4E792FBD74A5}"/>
              </a:ext>
            </a:extLst>
          </p:cNvPr>
          <p:cNvSpPr>
            <a:spLocks noGrp="1"/>
          </p:cNvSpPr>
          <p:nvPr/>
        </p:nvSpPr>
        <p:spPr>
          <a:xfrm>
            <a:off x="4953000" y="11668125"/>
            <a:ext cx="7048500" cy="2143125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28575">
            <a:solidFill>
              <a:srgbClr val="91C0EC"/>
            </a:solidFill>
            <a:prstDash val="solid"/>
          </a:ln>
        </p:spPr>
      </p:sp>
      <p:sp>
        <p:nvSpPr>
          <p:cNvPr id="21" name="Texto número 03">
            <a:extLst>
              <a:ext uri="{FF2B5EF4-FFF2-40B4-BE49-F238E27FC236}">
                <a16:creationId xmlns:a16="http://schemas.microsoft.com/office/drawing/2014/main" id="{ADB36BE4-9791-4FBA-9AE3-D6E3D1308935}"/>
              </a:ext>
            </a:extLst>
          </p:cNvPr>
          <p:cNvSpPr>
            <a:spLocks noGrp="1"/>
          </p:cNvSpPr>
          <p:nvPr/>
        </p:nvSpPr>
        <p:spPr>
          <a:xfrm>
            <a:off x="5314950" y="12077700"/>
            <a:ext cx="514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defPPr>
            <a:lvl1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1pPr>
            <a:lvl2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2pPr>
            <a:lvl3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3pPr>
            <a:lvl4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4pPr>
            <a:lvl5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5pPr>
            <a:lvl6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6pPr>
            <a:lvl7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7pPr>
            <a:lvl8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8pPr>
            <a:lvl9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ctr">
              <a:defRPr sz="2025" b="1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pPr>
            <a:r>
              <a:rPr sz="4000" b="1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22" name="Nombre función 03">
            <a:extLst>
              <a:ext uri="{FF2B5EF4-FFF2-40B4-BE49-F238E27FC236}">
                <a16:creationId xmlns:a16="http://schemas.microsoft.com/office/drawing/2014/main" id="{128DF2A1-95F8-4291-BDE6-B9F0C42E180F}"/>
              </a:ext>
            </a:extLst>
          </p:cNvPr>
          <p:cNvSpPr>
            <a:spLocks noGrp="1"/>
          </p:cNvSpPr>
          <p:nvPr/>
        </p:nvSpPr>
        <p:spPr>
          <a:xfrm>
            <a:off x="6143625" y="11991975"/>
            <a:ext cx="54292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26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pPr>
            <a:r>
              <a:rPr sz="2625" b="0" dirty="0" err="1">
                <a:solidFill>
                  <a:srgbClr val="17384B"/>
                </a:solidFill>
                <a:latin typeface="Consolas"/>
                <a:ea typeface="Consolas"/>
                <a:cs typeface="Consolas"/>
              </a:rPr>
              <a:t>extraer_texto</a:t>
            </a:r>
            <a:r>
              <a:rPr sz="2625" b="0" dirty="0">
                <a:solidFill>
                  <a:srgbClr val="17384B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2625" b="0" dirty="0" err="1">
                <a:solidFill>
                  <a:srgbClr val="17384B"/>
                </a:solidFill>
                <a:latin typeface="Consolas"/>
                <a:ea typeface="Consolas"/>
                <a:cs typeface="Consolas"/>
              </a:rPr>
              <a:t>datos</a:t>
            </a:r>
            <a:r>
              <a:rPr sz="2625" b="0" dirty="0">
                <a:solidFill>
                  <a:srgbClr val="17384B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23" name="Descripción función 03">
            <a:extLst>
              <a:ext uri="{FF2B5EF4-FFF2-40B4-BE49-F238E27FC236}">
                <a16:creationId xmlns:a16="http://schemas.microsoft.com/office/drawing/2014/main" id="{839B71B7-CD97-4423-AEE2-CF0FB00AF998}"/>
              </a:ext>
            </a:extLst>
          </p:cNvPr>
          <p:cNvSpPr>
            <a:spLocks noGrp="1"/>
          </p:cNvSpPr>
          <p:nvPr/>
        </p:nvSpPr>
        <p:spPr>
          <a:xfrm>
            <a:off x="6153150" y="12734925"/>
            <a:ext cx="5381625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07583"/>
                </a:solidFill>
                <a:latin typeface="Segoe UI"/>
                <a:ea typeface="Segoe UI"/>
                <a:cs typeface="Segoe UI"/>
              </a:rPr>
              <a:t>Busca el texto en candidates</a:t>
            </a:r>
          </a:p>
          <a:p>
            <a:pPr algn="l">
              <a:defRPr sz="20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607583"/>
                </a:solidFill>
                <a:latin typeface="Segoe UI"/>
                <a:ea typeface="Segoe UI"/>
                <a:cs typeface="Segoe UI"/>
              </a:rPr>
              <a:t>y lo devuelve</a:t>
            </a:r>
          </a:p>
        </p:txBody>
      </p:sp>
      <p:sp>
        <p:nvSpPr>
          <p:cNvPr id="24" name="Flecha URL y cuerpo">
            <a:extLst>
              <a:ext uri="{FF2B5EF4-FFF2-40B4-BE49-F238E27FC236}">
                <a16:creationId xmlns:a16="http://schemas.microsoft.com/office/drawing/2014/main" id="{73BB2928-790B-40DE-8C49-C9A84471F70F}"/>
              </a:ext>
            </a:extLst>
          </p:cNvPr>
          <p:cNvSpPr>
            <a:spLocks noGrp="1"/>
          </p:cNvSpPr>
          <p:nvPr/>
        </p:nvSpPr>
        <p:spPr>
          <a:xfrm>
            <a:off x="8334375" y="6353174"/>
            <a:ext cx="285750" cy="923925"/>
          </a:xfrm>
          <a:prstGeom prst="downArrow">
            <a:avLst/>
          </a:prstGeom>
          <a:solidFill>
            <a:srgbClr val="2E7CC6"/>
          </a:solidFill>
          <a:ln w="9525">
            <a:solidFill>
              <a:srgbClr val="2E7CC6"/>
            </a:solidFill>
            <a:prstDash val="solid"/>
          </a:ln>
        </p:spPr>
      </p:sp>
      <p:sp>
        <p:nvSpPr>
          <p:cNvPr id="25" name="Datos de solicitud">
            <a:extLst>
              <a:ext uri="{FF2B5EF4-FFF2-40B4-BE49-F238E27FC236}">
                <a16:creationId xmlns:a16="http://schemas.microsoft.com/office/drawing/2014/main" id="{BB2B72BA-AAA1-42D6-9992-2C88251A5B51}"/>
              </a:ext>
            </a:extLst>
          </p:cNvPr>
          <p:cNvSpPr>
            <a:spLocks noGrp="1"/>
          </p:cNvSpPr>
          <p:nvPr/>
        </p:nvSpPr>
        <p:spPr>
          <a:xfrm>
            <a:off x="8601075" y="6496050"/>
            <a:ext cx="3810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pPr>
            <a:r>
              <a:rPr sz="2025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URL · headers · body</a:t>
            </a:r>
          </a:p>
        </p:txBody>
      </p:sp>
      <p:sp>
        <p:nvSpPr>
          <p:cNvPr id="26" name="Flecha JSON">
            <a:extLst>
              <a:ext uri="{FF2B5EF4-FFF2-40B4-BE49-F238E27FC236}">
                <a16:creationId xmlns:a16="http://schemas.microsoft.com/office/drawing/2014/main" id="{C2C2606D-7200-4DB3-A5AF-F4E4E82AC92C}"/>
              </a:ext>
            </a:extLst>
          </p:cNvPr>
          <p:cNvSpPr>
            <a:spLocks noGrp="1"/>
          </p:cNvSpPr>
          <p:nvPr/>
        </p:nvSpPr>
        <p:spPr>
          <a:xfrm>
            <a:off x="8334375" y="9905999"/>
            <a:ext cx="266695" cy="1743075"/>
          </a:xfrm>
          <a:prstGeom prst="downArrow">
            <a:avLst/>
          </a:prstGeom>
          <a:solidFill>
            <a:srgbClr val="2E7CC6"/>
          </a:solidFill>
          <a:ln w="9525">
            <a:solidFill>
              <a:srgbClr val="2E7CC6"/>
            </a:solidFill>
            <a:prstDash val="solid"/>
          </a:ln>
        </p:spPr>
      </p:sp>
      <p:sp>
        <p:nvSpPr>
          <p:cNvPr id="27" name="Dato respuesta JSON">
            <a:extLst>
              <a:ext uri="{FF2B5EF4-FFF2-40B4-BE49-F238E27FC236}">
                <a16:creationId xmlns:a16="http://schemas.microsoft.com/office/drawing/2014/main" id="{284ADAAB-5533-4567-B5A2-D72E027193A0}"/>
              </a:ext>
            </a:extLst>
          </p:cNvPr>
          <p:cNvSpPr>
            <a:spLocks noGrp="1"/>
          </p:cNvSpPr>
          <p:nvPr/>
        </p:nvSpPr>
        <p:spPr>
          <a:xfrm>
            <a:off x="8803481" y="10448925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pPr>
            <a:r>
              <a:rPr sz="2025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datos</a:t>
            </a:r>
            <a:r>
              <a:rPr sz="2025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: </a:t>
            </a:r>
            <a:r>
              <a:rPr sz="2025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respuesta</a:t>
            </a:r>
            <a:r>
              <a:rPr sz="2025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JSON</a:t>
            </a:r>
          </a:p>
        </p:txBody>
      </p:sp>
      <p:sp>
        <p:nvSpPr>
          <p:cNvPr id="28" name="Contenido JSON">
            <a:extLst>
              <a:ext uri="{FF2B5EF4-FFF2-40B4-BE49-F238E27FC236}">
                <a16:creationId xmlns:a16="http://schemas.microsoft.com/office/drawing/2014/main" id="{3124570C-8538-4AE8-8CB1-121A3A8F741A}"/>
              </a:ext>
            </a:extLst>
          </p:cNvPr>
          <p:cNvSpPr>
            <a:spLocks noGrp="1"/>
          </p:cNvSpPr>
          <p:nvPr/>
        </p:nvSpPr>
        <p:spPr>
          <a:xfrm>
            <a:off x="8843962" y="10791825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sz="1725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candidates + </a:t>
            </a:r>
            <a:r>
              <a:rPr sz="1725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usageMetadata</a:t>
            </a:r>
            <a:endParaRPr sz="1725" b="0" dirty="0">
              <a:solidFill>
                <a:schemeClr val="tx1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29" name="Flecha texto extraído">
            <a:extLst>
              <a:ext uri="{FF2B5EF4-FFF2-40B4-BE49-F238E27FC236}">
                <a16:creationId xmlns:a16="http://schemas.microsoft.com/office/drawing/2014/main" id="{B44A0E5A-D3C9-46A6-9714-07C22A357B71}"/>
              </a:ext>
            </a:extLst>
          </p:cNvPr>
          <p:cNvSpPr>
            <a:spLocks noGrp="1"/>
          </p:cNvSpPr>
          <p:nvPr/>
        </p:nvSpPr>
        <p:spPr>
          <a:xfrm>
            <a:off x="8334375" y="13830300"/>
            <a:ext cx="285750" cy="1028700"/>
          </a:xfrm>
          <a:prstGeom prst="downArrow">
            <a:avLst/>
          </a:prstGeom>
          <a:solidFill>
            <a:srgbClr val="2E7CC6"/>
          </a:solidFill>
          <a:ln w="9525">
            <a:solidFill>
              <a:srgbClr val="2E7CC6"/>
            </a:solidFill>
            <a:prstDash val="solid"/>
          </a:ln>
        </p:spPr>
      </p:sp>
      <p:sp>
        <p:nvSpPr>
          <p:cNvPr id="30" name="Dato texto">
            <a:extLst>
              <a:ext uri="{FF2B5EF4-FFF2-40B4-BE49-F238E27FC236}">
                <a16:creationId xmlns:a16="http://schemas.microsoft.com/office/drawing/2014/main" id="{2A051C07-40AB-4F5B-8DBD-C98E33B3ABCD}"/>
              </a:ext>
            </a:extLst>
          </p:cNvPr>
          <p:cNvSpPr>
            <a:spLocks noGrp="1"/>
          </p:cNvSpPr>
          <p:nvPr/>
        </p:nvSpPr>
        <p:spPr>
          <a:xfrm>
            <a:off x="8858250" y="14144625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025" b="0">
                <a:solidFill>
                  <a:srgbClr val="2E7CC6"/>
                </a:solidFill>
                <a:latin typeface="Segoe UI"/>
                <a:ea typeface="Segoe UI"/>
                <a:cs typeface="Segoe UI"/>
              </a:defRPr>
            </a:pPr>
            <a:r>
              <a:rPr sz="2025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texto</a:t>
            </a:r>
            <a:r>
              <a:rPr sz="2025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25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extraído</a:t>
            </a:r>
            <a:endParaRPr sz="2025" b="0" dirty="0">
              <a:solidFill>
                <a:schemeClr val="tx1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1" name="Respuesta final">
            <a:extLst>
              <a:ext uri="{FF2B5EF4-FFF2-40B4-BE49-F238E27FC236}">
                <a16:creationId xmlns:a16="http://schemas.microsoft.com/office/drawing/2014/main" id="{BC0DDD45-FCA5-48FA-99FA-89BF2944FB6F}"/>
              </a:ext>
            </a:extLst>
          </p:cNvPr>
          <p:cNvSpPr>
            <a:spLocks noGrp="1"/>
          </p:cNvSpPr>
          <p:nvPr/>
        </p:nvSpPr>
        <p:spPr>
          <a:xfrm>
            <a:off x="4953000" y="14992350"/>
            <a:ext cx="7048500" cy="1314450"/>
          </a:xfrm>
          <a:prstGeom prst="roundRect">
            <a:avLst>
              <a:gd name="adj" fmla="val 24000"/>
            </a:avLst>
          </a:prstGeom>
          <a:solidFill>
            <a:srgbClr val="E5F4ED"/>
          </a:solidFill>
          <a:ln w="28575">
            <a:solidFill>
              <a:srgbClr val="9DD5C3"/>
            </a:solidFill>
            <a:prstDash val="solid"/>
          </a:ln>
        </p:spPr>
      </p:sp>
      <p:sp>
        <p:nvSpPr>
          <p:cNvPr id="32" name="Respuesta de consulta">
            <a:extLst>
              <a:ext uri="{FF2B5EF4-FFF2-40B4-BE49-F238E27FC236}">
                <a16:creationId xmlns:a16="http://schemas.microsoft.com/office/drawing/2014/main" id="{DEABD1D6-3FF9-48AF-926D-7745BB279BE1}"/>
              </a:ext>
            </a:extLst>
          </p:cNvPr>
          <p:cNvSpPr>
            <a:spLocks noGrp="1"/>
          </p:cNvSpPr>
          <p:nvPr/>
        </p:nvSpPr>
        <p:spPr>
          <a:xfrm>
            <a:off x="5524500" y="15061826"/>
            <a:ext cx="6191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70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70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70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70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70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70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70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70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70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70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70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pPr>
            <a:r>
              <a:rPr sz="2700" b="1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Respuesta de la consulta</a:t>
            </a:r>
          </a:p>
        </p:txBody>
      </p:sp>
      <p:sp>
        <p:nvSpPr>
          <p:cNvPr id="33" name="Variables en .env">
            <a:extLst>
              <a:ext uri="{FF2B5EF4-FFF2-40B4-BE49-F238E27FC236}">
                <a16:creationId xmlns:a16="http://schemas.microsoft.com/office/drawing/2014/main" id="{C1EBD5AA-0BE8-40D5-B74A-14F8DCABD385}"/>
              </a:ext>
            </a:extLst>
          </p:cNvPr>
          <p:cNvSpPr>
            <a:spLocks noGrp="1"/>
          </p:cNvSpPr>
          <p:nvPr/>
        </p:nvSpPr>
        <p:spPr>
          <a:xfrm>
            <a:off x="857250" y="4095750"/>
            <a:ext cx="3429000" cy="1809750"/>
          </a:xfrm>
          <a:prstGeom prst="roundRect">
            <a:avLst>
              <a:gd name="adj" fmla="val 12632"/>
            </a:avLst>
          </a:prstGeom>
          <a:solidFill>
            <a:srgbClr val="E9F3FC"/>
          </a:solidFill>
          <a:ln w="28575">
            <a:solidFill>
              <a:srgbClr val="91C0EC"/>
            </a:solidFill>
            <a:prstDash val="solid"/>
          </a:ln>
        </p:spPr>
      </p:sp>
      <p:sp>
        <p:nvSpPr>
          <p:cNvPr id="34" name="Encabezado .env">
            <a:extLst>
              <a:ext uri="{FF2B5EF4-FFF2-40B4-BE49-F238E27FC236}">
                <a16:creationId xmlns:a16="http://schemas.microsoft.com/office/drawing/2014/main" id="{425B2D08-4B33-4C28-A3F0-C622383E25B6}"/>
              </a:ext>
            </a:extLst>
          </p:cNvPr>
          <p:cNvSpPr>
            <a:spLocks noGrp="1"/>
          </p:cNvSpPr>
          <p:nvPr/>
        </p:nvSpPr>
        <p:spPr>
          <a:xfrm>
            <a:off x="1123950" y="4295775"/>
            <a:ext cx="2952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25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25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25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25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25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25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25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25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25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25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25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pPr>
            <a:r>
              <a:rPr sz="2250" b="1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.env  (local)</a:t>
            </a:r>
          </a:p>
        </p:txBody>
      </p:sp>
      <p:sp>
        <p:nvSpPr>
          <p:cNvPr id="35" name="Datos .env">
            <a:extLst>
              <a:ext uri="{FF2B5EF4-FFF2-40B4-BE49-F238E27FC236}">
                <a16:creationId xmlns:a16="http://schemas.microsoft.com/office/drawing/2014/main" id="{9710910E-78E9-4E88-BFBC-CE7DE7F6EB4A}"/>
              </a:ext>
            </a:extLst>
          </p:cNvPr>
          <p:cNvSpPr>
            <a:spLocks noGrp="1"/>
          </p:cNvSpPr>
          <p:nvPr/>
        </p:nvSpPr>
        <p:spPr>
          <a:xfrm>
            <a:off x="1123950" y="4772025"/>
            <a:ext cx="29527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sz="1725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API_KEY → x-</a:t>
            </a:r>
            <a:r>
              <a:rPr sz="1725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goog</a:t>
            </a:r>
            <a:r>
              <a:rPr sz="1725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-</a:t>
            </a:r>
            <a:r>
              <a:rPr sz="1725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api</a:t>
            </a:r>
            <a:r>
              <a:rPr sz="1725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-key</a:t>
            </a:r>
          </a:p>
          <a:p>
            <a: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sz="1725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MODEL_NAME → URL</a:t>
            </a:r>
          </a:p>
          <a:p>
            <a:pPr algn="l">
              <a:defRPr sz="1725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sz="1725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los</a:t>
            </a:r>
            <a:r>
              <a:rPr sz="1725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lee </a:t>
            </a:r>
            <a:r>
              <a:rPr sz="1725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armar_peticion</a:t>
            </a:r>
            <a:endParaRPr sz="1725" b="0" dirty="0">
              <a:solidFill>
                <a:schemeClr val="tx1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36" name="Flecha env a función">
            <a:extLst>
              <a:ext uri="{FF2B5EF4-FFF2-40B4-BE49-F238E27FC236}">
                <a16:creationId xmlns:a16="http://schemas.microsoft.com/office/drawing/2014/main" id="{05EBE12B-E62F-4491-8BD7-C647A1C36CC0}"/>
              </a:ext>
            </a:extLst>
          </p:cNvPr>
          <p:cNvSpPr>
            <a:spLocks noGrp="1"/>
          </p:cNvSpPr>
          <p:nvPr/>
        </p:nvSpPr>
        <p:spPr>
          <a:xfrm>
            <a:off x="4295775" y="4886325"/>
            <a:ext cx="628650" cy="219075"/>
          </a:xfrm>
          <a:prstGeom prst="rightArrow">
            <a:avLst/>
          </a:prstGeom>
          <a:solidFill>
            <a:srgbClr val="2E7CC6"/>
          </a:solidFill>
          <a:ln w="9525">
            <a:solidFill>
              <a:srgbClr val="2E7CC6"/>
            </a:solidFill>
            <a:prstDash val="solid"/>
          </a:ln>
        </p:spPr>
      </p:sp>
      <p:sp>
        <p:nvSpPr>
          <p:cNvPr id="40" name="Servicio Gemini">
            <a:extLst>
              <a:ext uri="{FF2B5EF4-FFF2-40B4-BE49-F238E27FC236}">
                <a16:creationId xmlns:a16="http://schemas.microsoft.com/office/drawing/2014/main" id="{2D26FDF9-D0C9-4D6B-B3B8-E9D6AB72C875}"/>
              </a:ext>
            </a:extLst>
          </p:cNvPr>
          <p:cNvSpPr>
            <a:spLocks noGrp="1"/>
          </p:cNvSpPr>
          <p:nvPr/>
        </p:nvSpPr>
        <p:spPr>
          <a:xfrm>
            <a:off x="12573000" y="7315200"/>
            <a:ext cx="3714750" cy="1457325"/>
          </a:xfrm>
          <a:prstGeom prst="roundRect">
            <a:avLst>
              <a:gd name="adj" fmla="val 15686"/>
            </a:avLst>
          </a:prstGeom>
          <a:solidFill>
            <a:srgbClr val="F0F5F7"/>
          </a:solidFill>
          <a:ln w="28575">
            <a:solidFill>
              <a:srgbClr val="C8D9E2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41" name="Título servicio">
            <a:extLst>
              <a:ext uri="{FF2B5EF4-FFF2-40B4-BE49-F238E27FC236}">
                <a16:creationId xmlns:a16="http://schemas.microsoft.com/office/drawing/2014/main" id="{5BF0F653-8728-45B5-B030-126A0FAAC188}"/>
              </a:ext>
            </a:extLst>
          </p:cNvPr>
          <p:cNvSpPr>
            <a:spLocks noGrp="1"/>
          </p:cNvSpPr>
          <p:nvPr/>
        </p:nvSpPr>
        <p:spPr>
          <a:xfrm>
            <a:off x="12763500" y="7440598"/>
            <a:ext cx="3457576" cy="801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70000" lnSpcReduction="20000"/>
          </a:bodyPr>
          <a:lstStyle>
            <a:defPPr algn="l">
              <a:defRPr sz="225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25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25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25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25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25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25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25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25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25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225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pPr>
            <a:r>
              <a:rPr lang="es-ES" sz="3200" dirty="0"/>
              <a:t>API del modelo </a:t>
            </a:r>
          </a:p>
          <a:p>
            <a:pPr>
              <a:defRPr sz="2250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pPr>
            <a:r>
              <a:rPr lang="es-ES" sz="3200" dirty="0"/>
              <a:t>(ahora Gemini)</a:t>
            </a:r>
            <a:br>
              <a:rPr lang="es-ES" dirty="0"/>
            </a:br>
            <a:endParaRPr sz="2250" b="1" dirty="0">
              <a:solidFill>
                <a:schemeClr val="tx1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2" name="Descripción servicio">
            <a:extLst>
              <a:ext uri="{FF2B5EF4-FFF2-40B4-BE49-F238E27FC236}">
                <a16:creationId xmlns:a16="http://schemas.microsoft.com/office/drawing/2014/main" id="{759CE289-8F7A-4E7A-A4A6-201709A2FF25}"/>
              </a:ext>
            </a:extLst>
          </p:cNvPr>
          <p:cNvSpPr>
            <a:spLocks noGrp="1"/>
          </p:cNvSpPr>
          <p:nvPr/>
        </p:nvSpPr>
        <p:spPr>
          <a:xfrm>
            <a:off x="12820650" y="7981950"/>
            <a:ext cx="32385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sz="1650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Entra: URL, headers y body</a:t>
            </a:r>
          </a:p>
          <a:p>
            <a: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sz="1650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Vuelve: </a:t>
            </a:r>
            <a:r>
              <a:rPr sz="1650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respuesta</a:t>
            </a:r>
            <a:r>
              <a:rPr sz="1650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HTTP/JSON</a:t>
            </a:r>
          </a:p>
        </p:txBody>
      </p:sp>
      <p:sp>
        <p:nvSpPr>
          <p:cNvPr id="43" name="Solicitud hacia Gemini">
            <a:extLst>
              <a:ext uri="{FF2B5EF4-FFF2-40B4-BE49-F238E27FC236}">
                <a16:creationId xmlns:a16="http://schemas.microsoft.com/office/drawing/2014/main" id="{4F476D8C-C461-4938-93C3-C7BCB1E695BB}"/>
              </a:ext>
            </a:extLst>
          </p:cNvPr>
          <p:cNvSpPr>
            <a:spLocks noGrp="1"/>
          </p:cNvSpPr>
          <p:nvPr/>
        </p:nvSpPr>
        <p:spPr>
          <a:xfrm>
            <a:off x="12020550" y="7572375"/>
            <a:ext cx="523875" cy="180975"/>
          </a:xfrm>
          <a:prstGeom prst="rightArrow">
            <a:avLst/>
          </a:prstGeom>
          <a:solidFill>
            <a:srgbClr val="268A70"/>
          </a:solidFill>
          <a:ln w="9525">
            <a:solidFill>
              <a:srgbClr val="268A70"/>
            </a:solidFill>
            <a:prstDash val="solid"/>
          </a:ln>
        </p:spPr>
      </p:sp>
      <p:sp>
        <p:nvSpPr>
          <p:cNvPr id="44" name="Respuesta desde Gemini">
            <a:extLst>
              <a:ext uri="{FF2B5EF4-FFF2-40B4-BE49-F238E27FC236}">
                <a16:creationId xmlns:a16="http://schemas.microsoft.com/office/drawing/2014/main" id="{FD233036-2187-42A1-AC0F-3A15ECA09D80}"/>
              </a:ext>
            </a:extLst>
          </p:cNvPr>
          <p:cNvSpPr>
            <a:spLocks noGrp="1"/>
          </p:cNvSpPr>
          <p:nvPr/>
        </p:nvSpPr>
        <p:spPr>
          <a:xfrm>
            <a:off x="12020550" y="8181975"/>
            <a:ext cx="523875" cy="180975"/>
          </a:xfrm>
          <a:prstGeom prst="leftArrow">
            <a:avLst/>
          </a:prstGeom>
          <a:solidFill>
            <a:srgbClr val="268A70"/>
          </a:solidFill>
          <a:ln w="9525">
            <a:solidFill>
              <a:srgbClr val="268A70"/>
            </a:solidFill>
            <a:prstDash val="solid"/>
          </a:ln>
        </p:spPr>
      </p:sp>
      <p:sp>
        <p:nvSpPr>
          <p:cNvPr id="51" name="Rama costo horizontal">
            <a:extLst>
              <a:ext uri="{FF2B5EF4-FFF2-40B4-BE49-F238E27FC236}">
                <a16:creationId xmlns:a16="http://schemas.microsoft.com/office/drawing/2014/main" id="{7584ACCF-180D-44ED-91D9-751BF0A9D08D}"/>
              </a:ext>
            </a:extLst>
          </p:cNvPr>
          <p:cNvSpPr>
            <a:spLocks noGrp="1"/>
          </p:cNvSpPr>
          <p:nvPr/>
        </p:nvSpPr>
        <p:spPr>
          <a:xfrm>
            <a:off x="2286000" y="10810875"/>
            <a:ext cx="6286500" cy="0"/>
          </a:xfrm>
          <a:prstGeom prst="line">
            <a:avLst/>
          </a:prstGeom>
          <a:noFill/>
          <a:ln w="47625">
            <a:solidFill>
              <a:srgbClr val="268A70"/>
            </a:solidFill>
            <a:prstDash val="dash"/>
          </a:ln>
        </p:spPr>
      </p:sp>
      <p:sp>
        <p:nvSpPr>
          <p:cNvPr id="52" name="Rama costo vertical">
            <a:extLst>
              <a:ext uri="{FF2B5EF4-FFF2-40B4-BE49-F238E27FC236}">
                <a16:creationId xmlns:a16="http://schemas.microsoft.com/office/drawing/2014/main" id="{39000335-FF11-487A-9BF3-9E50C337FE26}"/>
              </a:ext>
            </a:extLst>
          </p:cNvPr>
          <p:cNvSpPr>
            <a:spLocks noGrp="1"/>
          </p:cNvSpPr>
          <p:nvPr/>
        </p:nvSpPr>
        <p:spPr>
          <a:xfrm>
            <a:off x="2286000" y="10810875"/>
            <a:ext cx="0" cy="952500"/>
          </a:xfrm>
          <a:prstGeom prst="line">
            <a:avLst/>
          </a:prstGeom>
          <a:noFill/>
          <a:ln w="47625">
            <a:solidFill>
              <a:srgbClr val="268A70"/>
            </a:solidFill>
            <a:prstDash val="dash"/>
          </a:ln>
        </p:spPr>
      </p:sp>
      <p:sp>
        <p:nvSpPr>
          <p:cNvPr id="53" name="Flecha a costo">
            <a:extLst>
              <a:ext uri="{FF2B5EF4-FFF2-40B4-BE49-F238E27FC236}">
                <a16:creationId xmlns:a16="http://schemas.microsoft.com/office/drawing/2014/main" id="{EF7A99F3-828C-40F5-A8AC-FDC8C00C539E}"/>
              </a:ext>
            </a:extLst>
          </p:cNvPr>
          <p:cNvSpPr>
            <a:spLocks noGrp="1"/>
          </p:cNvSpPr>
          <p:nvPr/>
        </p:nvSpPr>
        <p:spPr>
          <a:xfrm>
            <a:off x="2181225" y="11572875"/>
            <a:ext cx="209550" cy="285750"/>
          </a:xfrm>
          <a:prstGeom prst="downArrow">
            <a:avLst/>
          </a:prstGeom>
          <a:solidFill>
            <a:srgbClr val="268A70"/>
          </a:solidFill>
          <a:ln w="9525">
            <a:solidFill>
              <a:srgbClr val="268A70"/>
            </a:solidFill>
            <a:prstDash val="solid"/>
          </a:ln>
        </p:spPr>
      </p:sp>
      <p:sp>
        <p:nvSpPr>
          <p:cNvPr id="54" name="Dato de uso">
            <a:extLst>
              <a:ext uri="{FF2B5EF4-FFF2-40B4-BE49-F238E27FC236}">
                <a16:creationId xmlns:a16="http://schemas.microsoft.com/office/drawing/2014/main" id="{34D8332D-DB8E-4705-BE74-631612020FBF}"/>
              </a:ext>
            </a:extLst>
          </p:cNvPr>
          <p:cNvSpPr>
            <a:spLocks noGrp="1"/>
          </p:cNvSpPr>
          <p:nvPr/>
        </p:nvSpPr>
        <p:spPr>
          <a:xfrm>
            <a:off x="4191000" y="10839450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800" b="0">
                <a:solidFill>
                  <a:srgbClr val="268A70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268A70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268A70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268A70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268A70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268A70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268A70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268A70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268A70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268A70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800" b="0">
                <a:solidFill>
                  <a:srgbClr val="268A70"/>
                </a:solidFill>
                <a:latin typeface="Segoe UI"/>
                <a:ea typeface="Segoe UI"/>
                <a:cs typeface="Segoe UI"/>
              </a:defRPr>
            </a:pPr>
            <a:r>
              <a:rPr sz="1800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usageMetadata</a:t>
            </a:r>
            <a:endParaRPr sz="1800" b="0" dirty="0">
              <a:solidFill>
                <a:schemeClr val="tx1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55" name="Función costo aparte">
            <a:extLst>
              <a:ext uri="{FF2B5EF4-FFF2-40B4-BE49-F238E27FC236}">
                <a16:creationId xmlns:a16="http://schemas.microsoft.com/office/drawing/2014/main" id="{7894EA96-B390-47BF-AF6F-4B16F01CF12C}"/>
              </a:ext>
            </a:extLst>
          </p:cNvPr>
          <p:cNvSpPr>
            <a:spLocks noGrp="1"/>
          </p:cNvSpPr>
          <p:nvPr/>
        </p:nvSpPr>
        <p:spPr>
          <a:xfrm>
            <a:off x="857250" y="11811000"/>
            <a:ext cx="3429000" cy="2143125"/>
          </a:xfrm>
          <a:prstGeom prst="roundRect">
            <a:avLst>
              <a:gd name="adj" fmla="val 10667"/>
            </a:avLst>
          </a:prstGeom>
          <a:solidFill>
            <a:srgbClr val="E5F4ED"/>
          </a:solidFill>
          <a:ln w="28575">
            <a:solidFill>
              <a:srgbClr val="9DD5C3"/>
            </a:solidFill>
            <a:prstDash val="solid"/>
          </a:ln>
        </p:spPr>
      </p:sp>
      <p:sp>
        <p:nvSpPr>
          <p:cNvPr id="56" name="Nombre función costo">
            <a:extLst>
              <a:ext uri="{FF2B5EF4-FFF2-40B4-BE49-F238E27FC236}">
                <a16:creationId xmlns:a16="http://schemas.microsoft.com/office/drawing/2014/main" id="{8FACD273-1814-4B72-BEDC-85D81A0CB1DF}"/>
              </a:ext>
            </a:extLst>
          </p:cNvPr>
          <p:cNvSpPr>
            <a:spLocks noGrp="1"/>
          </p:cNvSpPr>
          <p:nvPr/>
        </p:nvSpPr>
        <p:spPr>
          <a:xfrm>
            <a:off x="1123950" y="12030075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3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23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23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23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23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23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23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23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23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23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 algn="l">
              <a:defRPr sz="2325" b="0">
                <a:solidFill>
                  <a:srgbClr val="17384B"/>
                </a:solidFill>
                <a:latin typeface="Consolas"/>
                <a:ea typeface="Consolas"/>
                <a:cs typeface="Consolas"/>
              </a:defRPr>
            </a:pPr>
            <a:r>
              <a:rPr sz="2325" b="0" dirty="0" err="1">
                <a:solidFill>
                  <a:schemeClr val="tx1"/>
                </a:solidFill>
                <a:latin typeface="Consolas"/>
                <a:ea typeface="Consolas"/>
                <a:cs typeface="Consolas"/>
              </a:rPr>
              <a:t>calcular_costo</a:t>
            </a:r>
            <a:endParaRPr sz="2325" b="0" dirty="0">
              <a:solidFill>
                <a:schemeClr val="tx1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7" name="Descripción función costo">
            <a:extLst>
              <a:ext uri="{FF2B5EF4-FFF2-40B4-BE49-F238E27FC236}">
                <a16:creationId xmlns:a16="http://schemas.microsoft.com/office/drawing/2014/main" id="{307B0D54-1EEE-42E2-A5EC-BF2F5807244E}"/>
              </a:ext>
            </a:extLst>
          </p:cNvPr>
          <p:cNvSpPr>
            <a:spLocks noGrp="1"/>
          </p:cNvSpPr>
          <p:nvPr/>
        </p:nvSpPr>
        <p:spPr>
          <a:xfrm>
            <a:off x="1123950" y="12696825"/>
            <a:ext cx="2952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sz="1650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entrada × </a:t>
            </a:r>
            <a:r>
              <a:rPr sz="1650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precio</a:t>
            </a:r>
            <a:r>
              <a:rPr sz="1650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entrada</a:t>
            </a:r>
          </a:p>
          <a:p>
            <a: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sz="1650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+ salida × </a:t>
            </a:r>
            <a:r>
              <a:rPr sz="1650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precio</a:t>
            </a:r>
            <a:r>
              <a:rPr sz="1650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salida</a:t>
            </a:r>
          </a:p>
          <a:p>
            <a: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sz="1650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Probado</a:t>
            </a:r>
            <a:r>
              <a:rPr sz="1650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aparte</a:t>
            </a:r>
            <a:endParaRPr sz="1650" b="0" dirty="0">
              <a:solidFill>
                <a:schemeClr val="tx1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58" name="Flecha costo vertical">
            <a:extLst>
              <a:ext uri="{FF2B5EF4-FFF2-40B4-BE49-F238E27FC236}">
                <a16:creationId xmlns:a16="http://schemas.microsoft.com/office/drawing/2014/main" id="{D905DABF-0BDC-4808-9BCF-32533AFE3FB7}"/>
              </a:ext>
            </a:extLst>
          </p:cNvPr>
          <p:cNvSpPr>
            <a:spLocks noGrp="1"/>
          </p:cNvSpPr>
          <p:nvPr/>
        </p:nvSpPr>
        <p:spPr>
          <a:xfrm>
            <a:off x="2571750" y="13973175"/>
            <a:ext cx="0" cy="809625"/>
          </a:xfrm>
          <a:prstGeom prst="line">
            <a:avLst/>
          </a:prstGeom>
          <a:noFill/>
          <a:ln w="47625">
            <a:solidFill>
              <a:srgbClr val="268A70"/>
            </a:solidFill>
            <a:prstDash val="dash"/>
          </a:ln>
        </p:spPr>
      </p:sp>
      <p:sp>
        <p:nvSpPr>
          <p:cNvPr id="59" name="Punta costo">
            <a:extLst>
              <a:ext uri="{FF2B5EF4-FFF2-40B4-BE49-F238E27FC236}">
                <a16:creationId xmlns:a16="http://schemas.microsoft.com/office/drawing/2014/main" id="{F1466AB1-B6AD-42A9-A280-D1D40C582189}"/>
              </a:ext>
            </a:extLst>
          </p:cNvPr>
          <p:cNvSpPr>
            <a:spLocks noGrp="1"/>
          </p:cNvSpPr>
          <p:nvPr/>
        </p:nvSpPr>
        <p:spPr>
          <a:xfrm>
            <a:off x="2466975" y="14620875"/>
            <a:ext cx="209550" cy="285750"/>
          </a:xfrm>
          <a:prstGeom prst="downArrow">
            <a:avLst/>
          </a:prstGeom>
          <a:solidFill>
            <a:srgbClr val="268A70"/>
          </a:solidFill>
          <a:ln w="9525">
            <a:solidFill>
              <a:srgbClr val="268A70"/>
            </a:solidFill>
            <a:prstDash val="solid"/>
          </a:ln>
        </p:spPr>
      </p:sp>
      <p:sp>
        <p:nvSpPr>
          <p:cNvPr id="60" name="Resultado de costo">
            <a:extLst>
              <a:ext uri="{FF2B5EF4-FFF2-40B4-BE49-F238E27FC236}">
                <a16:creationId xmlns:a16="http://schemas.microsoft.com/office/drawing/2014/main" id="{340B510D-68A1-4695-9CA9-19011C409A18}"/>
              </a:ext>
            </a:extLst>
          </p:cNvPr>
          <p:cNvSpPr>
            <a:spLocks noGrp="1"/>
          </p:cNvSpPr>
          <p:nvPr/>
        </p:nvSpPr>
        <p:spPr>
          <a:xfrm>
            <a:off x="857250" y="14992350"/>
            <a:ext cx="3429000" cy="800100"/>
          </a:xfrm>
          <a:prstGeom prst="roundRect">
            <a:avLst>
              <a:gd name="adj" fmla="val 28571"/>
            </a:avLst>
          </a:prstGeom>
          <a:solidFill>
            <a:srgbClr val="E5F4ED"/>
          </a:solidFill>
          <a:ln w="28575">
            <a:solidFill>
              <a:srgbClr val="9DD5C3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61" name="Texto costo">
            <a:extLst>
              <a:ext uri="{FF2B5EF4-FFF2-40B4-BE49-F238E27FC236}">
                <a16:creationId xmlns:a16="http://schemas.microsoft.com/office/drawing/2014/main" id="{143C44B9-AFDE-4F24-8ED9-77224BDCCA18}"/>
              </a:ext>
            </a:extLst>
          </p:cNvPr>
          <p:cNvSpPr>
            <a:spLocks noGrp="1"/>
          </p:cNvSpPr>
          <p:nvPr/>
        </p:nvSpPr>
        <p:spPr>
          <a:xfrm>
            <a:off x="1123950" y="15125700"/>
            <a:ext cx="295275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175" b="1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pPr>
            <a:r>
              <a:rPr sz="2175" b="1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Costo </a:t>
            </a:r>
            <a:r>
              <a:rPr sz="2175" b="1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calculado</a:t>
            </a:r>
            <a:endParaRPr sz="2175" b="1" dirty="0">
              <a:solidFill>
                <a:schemeClr val="tx1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66" name="Nota costo">
            <a:extLst>
              <a:ext uri="{FF2B5EF4-FFF2-40B4-BE49-F238E27FC236}">
                <a16:creationId xmlns:a16="http://schemas.microsoft.com/office/drawing/2014/main" id="{23794873-47A4-4812-8473-20165F6544EF}"/>
              </a:ext>
            </a:extLst>
          </p:cNvPr>
          <p:cNvSpPr>
            <a:spLocks noGrp="1"/>
          </p:cNvSpPr>
          <p:nvPr/>
        </p:nvSpPr>
        <p:spPr>
          <a:xfrm>
            <a:off x="2552019" y="10357757"/>
            <a:ext cx="1428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80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0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0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0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0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0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0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0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0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0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80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sz="1800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costo</a:t>
            </a:r>
            <a:r>
              <a:rPr sz="1800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calculado</a:t>
            </a:r>
            <a:r>
              <a:rPr sz="1800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por</a:t>
            </a:r>
            <a:r>
              <a:rPr sz="1800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800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separado</a:t>
            </a:r>
            <a:r>
              <a:rPr sz="1800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con </a:t>
            </a:r>
            <a:r>
              <a:rPr sz="1800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datos</a:t>
            </a:r>
            <a:r>
              <a:rPr sz="1800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sz="1800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ejemplo</a:t>
            </a:r>
            <a:r>
              <a:rPr sz="1800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85D20ECF-594F-3F6B-9BA2-288248355F0E}"/>
              </a:ext>
            </a:extLst>
          </p:cNvPr>
          <p:cNvSpPr/>
          <p:nvPr/>
        </p:nvSpPr>
        <p:spPr>
          <a:xfrm>
            <a:off x="13201649" y="4325890"/>
            <a:ext cx="3086101" cy="151293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0" name="Título revisión">
            <a:extLst>
              <a:ext uri="{FF2B5EF4-FFF2-40B4-BE49-F238E27FC236}">
                <a16:creationId xmlns:a16="http://schemas.microsoft.com/office/drawing/2014/main" id="{45EA5799-D549-B36D-201E-F52730947EEC}"/>
              </a:ext>
            </a:extLst>
          </p:cNvPr>
          <p:cNvSpPr>
            <a:spLocks noGrp="1"/>
          </p:cNvSpPr>
          <p:nvPr/>
        </p:nvSpPr>
        <p:spPr>
          <a:xfrm>
            <a:off x="13486839" y="4313284"/>
            <a:ext cx="31337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17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17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17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17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17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17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17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17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17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17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17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pPr>
            <a:r>
              <a:rPr sz="2175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Antes de </a:t>
            </a:r>
            <a:r>
              <a:rPr sz="2175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enviar</a:t>
            </a:r>
            <a:endParaRPr sz="2175" dirty="0">
              <a:solidFill>
                <a:schemeClr val="tx1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72" name="Comprobaciones">
            <a:extLst>
              <a:ext uri="{FF2B5EF4-FFF2-40B4-BE49-F238E27FC236}">
                <a16:creationId xmlns:a16="http://schemas.microsoft.com/office/drawing/2014/main" id="{D09EAA36-3826-DEAB-D8D1-22077AD9BACC}"/>
              </a:ext>
            </a:extLst>
          </p:cNvPr>
          <p:cNvSpPr>
            <a:spLocks noGrp="1"/>
          </p:cNvSpPr>
          <p:nvPr/>
        </p:nvSpPr>
        <p:spPr>
          <a:xfrm>
            <a:off x="13486839" y="4620608"/>
            <a:ext cx="3286125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sz="1600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Pregunta</a:t>
            </a:r>
            <a:r>
              <a:rPr sz="1600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s-ES" sz="1600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no </a:t>
            </a:r>
            <a:r>
              <a:rPr lang="es-ES" sz="1600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vac</a:t>
            </a:r>
            <a:r>
              <a:rPr lang="es-CL" sz="1600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ía</a:t>
            </a:r>
            <a:endParaRPr sz="1600" b="0" dirty="0">
              <a:solidFill>
                <a:schemeClr val="tx1"/>
              </a:solidFill>
              <a:latin typeface="Segoe UI"/>
              <a:ea typeface="Segoe UI"/>
              <a:cs typeface="Segoe UI"/>
            </a:endParaRPr>
          </a:p>
          <a:p>
            <a: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sz="1600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API_KEY </a:t>
            </a:r>
            <a:r>
              <a:rPr sz="1600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configurada</a:t>
            </a:r>
            <a:endParaRPr sz="1600" b="0" dirty="0">
              <a:solidFill>
                <a:schemeClr val="tx1"/>
              </a:solidFill>
              <a:latin typeface="Segoe UI"/>
              <a:ea typeface="Segoe UI"/>
              <a:cs typeface="Segoe UI"/>
            </a:endParaRPr>
          </a:p>
          <a:p>
            <a: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sz="1600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MODEL_NAME </a:t>
            </a:r>
            <a:r>
              <a:rPr sz="1600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configurado</a:t>
            </a:r>
            <a:endParaRPr sz="1600" b="0" dirty="0">
              <a:solidFill>
                <a:schemeClr val="tx1"/>
              </a:solidFill>
              <a:latin typeface="Segoe UI"/>
              <a:ea typeface="Segoe UI"/>
              <a:cs typeface="Segoe UI"/>
            </a:endParaRPr>
          </a:p>
          <a:p>
            <a: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sz="1600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Si </a:t>
            </a:r>
            <a:r>
              <a:rPr sz="1600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falta</a:t>
            </a:r>
            <a:r>
              <a:rPr sz="1600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algo: </a:t>
            </a:r>
            <a:r>
              <a:rPr sz="1600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ValueError</a:t>
            </a:r>
            <a:endParaRPr sz="1600" b="0" dirty="0">
              <a:solidFill>
                <a:schemeClr val="tx1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CF7F530F-07E8-FA94-1B71-0DDD15BF4CD7}"/>
              </a:ext>
            </a:extLst>
          </p:cNvPr>
          <p:cNvSpPr/>
          <p:nvPr/>
        </p:nvSpPr>
        <p:spPr>
          <a:xfrm>
            <a:off x="13201648" y="9025079"/>
            <a:ext cx="3086101" cy="149052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8" name="Título errores envío">
            <a:extLst>
              <a:ext uri="{FF2B5EF4-FFF2-40B4-BE49-F238E27FC236}">
                <a16:creationId xmlns:a16="http://schemas.microsoft.com/office/drawing/2014/main" id="{F6391D91-AB86-3DBB-3715-D018EEDD8A30}"/>
              </a:ext>
            </a:extLst>
          </p:cNvPr>
          <p:cNvSpPr>
            <a:spLocks noGrp="1"/>
          </p:cNvSpPr>
          <p:nvPr/>
        </p:nvSpPr>
        <p:spPr>
          <a:xfrm>
            <a:off x="13410638" y="8982075"/>
            <a:ext cx="3286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02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02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pPr>
            <a:r>
              <a:rPr sz="2025" b="1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try / except </a:t>
            </a:r>
            <a:r>
              <a:rPr sz="2025" b="1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en</a:t>
            </a:r>
            <a:r>
              <a:rPr sz="2025" b="1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25" b="1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envío</a:t>
            </a:r>
            <a:endParaRPr sz="2025" b="1" dirty="0">
              <a:solidFill>
                <a:schemeClr val="tx1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80" name="Detalle errores envío">
            <a:extLst>
              <a:ext uri="{FF2B5EF4-FFF2-40B4-BE49-F238E27FC236}">
                <a16:creationId xmlns:a16="http://schemas.microsoft.com/office/drawing/2014/main" id="{95619549-212C-9874-CF78-9E26CBB413F8}"/>
              </a:ext>
            </a:extLst>
          </p:cNvPr>
          <p:cNvSpPr>
            <a:spLocks noGrp="1"/>
          </p:cNvSpPr>
          <p:nvPr/>
        </p:nvSpPr>
        <p:spPr>
          <a:xfrm>
            <a:off x="13410637" y="9262081"/>
            <a:ext cx="328612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lang="es-ES" dirty="0">
                <a:solidFill>
                  <a:schemeClr val="tx1"/>
                </a:solidFill>
              </a:rPr>
              <a:t>Conexión o </a:t>
            </a:r>
            <a:r>
              <a:rPr lang="es-ES" dirty="0" err="1">
                <a:solidFill>
                  <a:schemeClr val="tx1"/>
                </a:solidFill>
              </a:rPr>
              <a:t>timeout</a:t>
            </a:r>
            <a:endParaRPr lang="es-ES" dirty="0">
              <a:solidFill>
                <a:schemeClr val="tx1"/>
              </a:solidFill>
            </a:endParaRPr>
          </a:p>
          <a:p>
            <a:pPr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lang="es-ES" dirty="0">
                <a:solidFill>
                  <a:schemeClr val="tx1"/>
                </a:solidFill>
              </a:rPr>
              <a:t>HTTP (400/401/403/503)</a:t>
            </a:r>
          </a:p>
          <a:p>
            <a:pPr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lang="es-ES" dirty="0">
                <a:solidFill>
                  <a:schemeClr val="tx1"/>
                </a:solidFill>
              </a:rPr>
              <a:t>JSON no legible</a:t>
            </a:r>
          </a:p>
          <a:p>
            <a:pPr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lang="es-ES" dirty="0" err="1">
                <a:solidFill>
                  <a:schemeClr val="tx1"/>
                </a:solidFill>
              </a:rPr>
              <a:t>RuntimeError</a:t>
            </a: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82" name="Rama costo horizontal">
            <a:extLst>
              <a:ext uri="{FF2B5EF4-FFF2-40B4-BE49-F238E27FC236}">
                <a16:creationId xmlns:a16="http://schemas.microsoft.com/office/drawing/2014/main" id="{5D502891-2392-1C74-48ED-B49FF47B6728}"/>
              </a:ext>
            </a:extLst>
          </p:cNvPr>
          <p:cNvSpPr>
            <a:spLocks noGrp="1"/>
          </p:cNvSpPr>
          <p:nvPr/>
        </p:nvSpPr>
        <p:spPr>
          <a:xfrm>
            <a:off x="12001500" y="4924423"/>
            <a:ext cx="1290638" cy="1"/>
          </a:xfrm>
          <a:prstGeom prst="line">
            <a:avLst/>
          </a:prstGeom>
          <a:noFill/>
          <a:ln w="47625">
            <a:solidFill>
              <a:srgbClr val="268A70"/>
            </a:solidFill>
            <a:prstDash val="dash"/>
          </a:ln>
        </p:spPr>
      </p:sp>
      <p:sp>
        <p:nvSpPr>
          <p:cNvPr id="84" name="Rama costo horizontal">
            <a:extLst>
              <a:ext uri="{FF2B5EF4-FFF2-40B4-BE49-F238E27FC236}">
                <a16:creationId xmlns:a16="http://schemas.microsoft.com/office/drawing/2014/main" id="{EF27A89C-6FB2-E074-254D-70D366C72CFE}"/>
              </a:ext>
            </a:extLst>
          </p:cNvPr>
          <p:cNvSpPr>
            <a:spLocks noGrp="1"/>
          </p:cNvSpPr>
          <p:nvPr/>
        </p:nvSpPr>
        <p:spPr>
          <a:xfrm>
            <a:off x="12020550" y="9572624"/>
            <a:ext cx="1290638" cy="1"/>
          </a:xfrm>
          <a:prstGeom prst="line">
            <a:avLst/>
          </a:prstGeom>
          <a:noFill/>
          <a:ln w="47625">
            <a:solidFill>
              <a:srgbClr val="268A70"/>
            </a:solidFill>
            <a:prstDash val="dash"/>
          </a:ln>
        </p:spPr>
      </p:sp>
      <p:sp>
        <p:nvSpPr>
          <p:cNvPr id="86" name="Rectángulo 85">
            <a:extLst>
              <a:ext uri="{FF2B5EF4-FFF2-40B4-BE49-F238E27FC236}">
                <a16:creationId xmlns:a16="http://schemas.microsoft.com/office/drawing/2014/main" id="{2E596C50-92AF-5E81-385F-87C1B4202AFB}"/>
              </a:ext>
            </a:extLst>
          </p:cNvPr>
          <p:cNvSpPr/>
          <p:nvPr/>
        </p:nvSpPr>
        <p:spPr>
          <a:xfrm>
            <a:off x="13192125" y="11920676"/>
            <a:ext cx="3086101" cy="149052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8" name="Título errores extracción">
            <a:extLst>
              <a:ext uri="{FF2B5EF4-FFF2-40B4-BE49-F238E27FC236}">
                <a16:creationId xmlns:a16="http://schemas.microsoft.com/office/drawing/2014/main" id="{2706DB45-AB93-2AC4-2350-9183CFE6A330}"/>
              </a:ext>
            </a:extLst>
          </p:cNvPr>
          <p:cNvSpPr>
            <a:spLocks noGrp="1"/>
          </p:cNvSpPr>
          <p:nvPr/>
        </p:nvSpPr>
        <p:spPr>
          <a:xfrm>
            <a:off x="13433610" y="11951074"/>
            <a:ext cx="3286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202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202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202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202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202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202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202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202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202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202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2025" b="1">
                <a:solidFill>
                  <a:srgbClr val="B9652F"/>
                </a:solidFill>
                <a:latin typeface="Segoe UI"/>
                <a:ea typeface="Segoe UI"/>
                <a:cs typeface="Segoe UI"/>
              </a:defRPr>
            </a:pPr>
            <a:r>
              <a:rPr sz="2025" b="1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try / except al </a:t>
            </a:r>
            <a:r>
              <a:rPr sz="2025" b="1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extraer</a:t>
            </a:r>
            <a:endParaRPr sz="2025" b="1" dirty="0">
              <a:solidFill>
                <a:schemeClr val="tx1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90" name="Detalle errores extracción">
            <a:extLst>
              <a:ext uri="{FF2B5EF4-FFF2-40B4-BE49-F238E27FC236}">
                <a16:creationId xmlns:a16="http://schemas.microsoft.com/office/drawing/2014/main" id="{906FFDF3-008F-FE65-0448-F6D2C57E6834}"/>
              </a:ext>
            </a:extLst>
          </p:cNvPr>
          <p:cNvSpPr>
            <a:spLocks noGrp="1"/>
          </p:cNvSpPr>
          <p:nvPr/>
        </p:nvSpPr>
        <p:spPr>
          <a:xfrm>
            <a:off x="13433610" y="12258843"/>
            <a:ext cx="3286125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lvl9pPr>
          </a:lstStyle>
          <a:p>
            <a: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sz="1650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Falta </a:t>
            </a:r>
            <a:r>
              <a:rPr sz="1650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una</a:t>
            </a:r>
            <a:r>
              <a:rPr sz="1650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50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parte</a:t>
            </a:r>
            <a:r>
              <a:rPr sz="1650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del JSON:</a:t>
            </a:r>
          </a:p>
          <a:p>
            <a: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sz="1650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KeyError</a:t>
            </a:r>
            <a:r>
              <a:rPr sz="1650" b="0" dirty="0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o </a:t>
            </a:r>
            <a:r>
              <a:rPr sz="1650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IndexError</a:t>
            </a:r>
            <a:endParaRPr sz="1650" b="0" dirty="0">
              <a:solidFill>
                <a:schemeClr val="tx1"/>
              </a:solidFill>
              <a:latin typeface="Segoe UI"/>
              <a:ea typeface="Segoe UI"/>
              <a:cs typeface="Segoe UI"/>
            </a:endParaRPr>
          </a:p>
          <a:p>
            <a:pPr algn="l">
              <a:defRPr sz="1650" b="0">
                <a:solidFill>
                  <a:srgbClr val="607583"/>
                </a:solidFill>
                <a:latin typeface="Segoe UI"/>
                <a:ea typeface="Segoe UI"/>
                <a:cs typeface="Segoe UI"/>
              </a:defRPr>
            </a:pPr>
            <a:r>
              <a:rPr lang="es-CL" dirty="0">
                <a:solidFill>
                  <a:schemeClr val="tx1"/>
                </a:solidFill>
              </a:rPr>
              <a:t>-</a:t>
            </a:r>
            <a:r>
              <a:rPr sz="1650" b="0" dirty="0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RuntimeError</a:t>
            </a:r>
            <a:endParaRPr sz="1650" b="0" dirty="0">
              <a:solidFill>
                <a:schemeClr val="tx1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92" name="Rama costo horizontal">
            <a:extLst>
              <a:ext uri="{FF2B5EF4-FFF2-40B4-BE49-F238E27FC236}">
                <a16:creationId xmlns:a16="http://schemas.microsoft.com/office/drawing/2014/main" id="{996A4D82-226C-D50C-EF3F-63A74EC7748B}"/>
              </a:ext>
            </a:extLst>
          </p:cNvPr>
          <p:cNvSpPr>
            <a:spLocks noGrp="1"/>
          </p:cNvSpPr>
          <p:nvPr/>
        </p:nvSpPr>
        <p:spPr>
          <a:xfrm>
            <a:off x="12018170" y="12655291"/>
            <a:ext cx="1290638" cy="1"/>
          </a:xfrm>
          <a:prstGeom prst="line">
            <a:avLst/>
          </a:prstGeom>
          <a:noFill/>
          <a:ln w="47625">
            <a:solidFill>
              <a:srgbClr val="268A70"/>
            </a:solidFill>
            <a:prstDash val="dash"/>
          </a:ln>
        </p:spPr>
      </p:sp>
      <p:sp>
        <p:nvSpPr>
          <p:cNvPr id="94" name="Detalle cierre">
            <a:extLst>
              <a:ext uri="{FF2B5EF4-FFF2-40B4-BE49-F238E27FC236}">
                <a16:creationId xmlns:a16="http://schemas.microsoft.com/office/drawing/2014/main" id="{6D988372-F64E-0915-F3B1-C51969A158B5}"/>
              </a:ext>
            </a:extLst>
          </p:cNvPr>
          <p:cNvSpPr>
            <a:spLocks noGrp="1"/>
          </p:cNvSpPr>
          <p:nvPr/>
        </p:nvSpPr>
        <p:spPr>
          <a:xfrm>
            <a:off x="5524500" y="15186771"/>
            <a:ext cx="7210425" cy="12057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>
            <a:defPPr algn="l">
              <a:defRPr sz="1875" b="0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defPPr>
            <a:lvl1pPr algn="l">
              <a:defRPr sz="1875" b="0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1pPr>
            <a:lvl2pPr algn="l">
              <a:defRPr sz="1875" b="0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2pPr>
            <a:lvl3pPr algn="l">
              <a:defRPr sz="1875" b="0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3pPr>
            <a:lvl4pPr algn="l">
              <a:defRPr sz="1875" b="0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4pPr>
            <a:lvl5pPr algn="l">
              <a:defRPr sz="1875" b="0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5pPr>
            <a:lvl6pPr algn="l">
              <a:defRPr sz="1875" b="0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6pPr>
            <a:lvl7pPr algn="l">
              <a:defRPr sz="1875" b="0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7pPr>
            <a:lvl8pPr algn="l">
              <a:defRPr sz="1875" b="0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8pPr>
            <a:lvl9pPr algn="l">
              <a:defRPr sz="1875" b="0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lvl9pPr>
          </a:lstStyle>
          <a:p>
            <a:pPr>
              <a:defRPr sz="1875" b="0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pPr>
            <a:r>
              <a:rPr lang="es-ES" dirty="0"/>
              <a:t>Texto generado por Gemini (más adelante, por otro modelo)</a:t>
            </a:r>
          </a:p>
          <a:p>
            <a:pPr>
              <a:defRPr sz="1875" b="0">
                <a:solidFill>
                  <a:srgbClr val="17384B"/>
                </a:solidFill>
                <a:latin typeface="Segoe UI"/>
                <a:ea typeface="Segoe UI"/>
                <a:cs typeface="Segoe UI"/>
              </a:defRPr>
            </a:pPr>
            <a:r>
              <a:rPr lang="es-ES" dirty="0"/>
              <a:t> o mensaje claro si ocurrió un error.</a:t>
            </a:r>
            <a:endParaRPr sz="1875" b="0" dirty="0">
              <a:solidFill>
                <a:srgbClr val="17384B"/>
              </a:solidFill>
              <a:latin typeface="Segoe UI"/>
              <a:ea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9390691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227</Words>
  <Application>Microsoft Office PowerPoint</Application>
  <DocSecurity>0</DocSecurity>
  <PresentationFormat>Personalizado</PresentationFormat>
  <Paragraphs>52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Consolas</vt:lpstr>
      <vt:lpstr>Segoe UI</vt:lpstr>
      <vt:lpstr>ChatGPT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Cesar Munoz Gonzalez</cp:lastModifiedBy>
  <cp:revision>7</cp:revision>
  <dcterms:created xsi:type="dcterms:W3CDTF">2026-10-20T13:55:36Z</dcterms:created>
  <dcterms:modified xsi:type="dcterms:W3CDTF">2026-10-20T14:36:25Z</dcterms:modified>
</cp:coreProperties>
</file>